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sldIdLst>
    <p:sldId id="256" r:id="rId2"/>
    <p:sldId id="257" r:id="rId3"/>
    <p:sldId id="262" r:id="rId4"/>
    <p:sldId id="258" r:id="rId5"/>
    <p:sldId id="259" r:id="rId6"/>
    <p:sldId id="261" r:id="rId7"/>
    <p:sldId id="263" r:id="rId8"/>
    <p:sldId id="265"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3088129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3633897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270986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2564107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172902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3"/>
          <p:cNvSpPr>
            <a:spLocks noGrp="1"/>
          </p:cNvSpPr>
          <p:nvPr>
            <p:ph type="ftr" sz="quarter" idx="11"/>
          </p:nvPr>
        </p:nvSpPr>
        <p:spPr/>
        <p:txBody>
          <a:bodyPr/>
          <a:lstStyle/>
          <a:p>
            <a:endParaRPr lang="en-IN" dirty="0"/>
          </a:p>
        </p:txBody>
      </p:sp>
      <p:sp>
        <p:nvSpPr>
          <p:cNvPr id="6" name="Slide Number Placeholder 4"/>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2435670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2"/>
          <p:cNvSpPr>
            <a:spLocks noGrp="1"/>
          </p:cNvSpPr>
          <p:nvPr>
            <p:ph type="ftr" sz="quarter" idx="11"/>
          </p:nvPr>
        </p:nvSpPr>
        <p:spPr/>
        <p:txBody>
          <a:bodyPr/>
          <a:lstStyle/>
          <a:p>
            <a:endParaRPr lang="en-IN" dirty="0"/>
          </a:p>
        </p:txBody>
      </p:sp>
      <p:sp>
        <p:nvSpPr>
          <p:cNvPr id="6" name="Slide Number Placeholder 3"/>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229156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5"/>
          <p:cNvSpPr>
            <a:spLocks noGrp="1"/>
          </p:cNvSpPr>
          <p:nvPr>
            <p:ph type="ftr" sz="quarter" idx="11"/>
          </p:nvPr>
        </p:nvSpPr>
        <p:spPr/>
        <p:txBody>
          <a:bodyPr/>
          <a:lstStyle/>
          <a:p>
            <a:endParaRPr lang="en-IN" dirty="0"/>
          </a:p>
        </p:txBody>
      </p:sp>
      <p:sp>
        <p:nvSpPr>
          <p:cNvPr id="6" name="Slide Number Placeholder 6"/>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2848942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701788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1141753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2853592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38E5B08-17D9-4664-90BB-1FA44EA1F054}" type="slidenum">
              <a:rPr lang="en-IN" smtClean="0"/>
              <a:t>‹#›</a:t>
            </a:fld>
            <a:endParaRPr lang="en-IN"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281910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28626752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21556901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2300294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3773950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DA7C40-CC92-4E1A-B75E-A025EFBF9611}" type="datetimeFigureOut">
              <a:rPr lang="en-IN" smtClean="0"/>
              <a:t>28-11-2023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38E5B08-17D9-4664-90BB-1FA44EA1F054}" type="slidenum">
              <a:rPr lang="en-IN" smtClean="0"/>
              <a:t>‹#›</a:t>
            </a:fld>
            <a:endParaRPr lang="en-IN" dirty="0"/>
          </a:p>
        </p:txBody>
      </p:sp>
    </p:spTree>
    <p:extLst>
      <p:ext uri="{BB962C8B-B14F-4D97-AF65-F5344CB8AC3E}">
        <p14:creationId xmlns:p14="http://schemas.microsoft.com/office/powerpoint/2010/main" val="3185561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CDA7C40-CC92-4E1A-B75E-A025EFBF9611}" type="datetimeFigureOut">
              <a:rPr lang="en-IN" smtClean="0"/>
              <a:t>28-11-2023</a:t>
            </a:fld>
            <a:endParaRPr lang="en-IN"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38E5B08-17D9-4664-90BB-1FA44EA1F054}" type="slidenum">
              <a:rPr lang="en-IN" smtClean="0"/>
              <a:t>‹#›</a:t>
            </a:fld>
            <a:endParaRPr lang="en-IN" dirty="0"/>
          </a:p>
        </p:txBody>
      </p:sp>
    </p:spTree>
    <p:extLst>
      <p:ext uri="{BB962C8B-B14F-4D97-AF65-F5344CB8AC3E}">
        <p14:creationId xmlns:p14="http://schemas.microsoft.com/office/powerpoint/2010/main" val="1678617690"/>
      </p:ext>
    </p:extLst>
  </p:cSld>
  <p:clrMap bg1="dk1" tx1="lt1" bg2="dk2" tx2="lt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589" y="388472"/>
            <a:ext cx="12838739" cy="3464858"/>
          </a:xfrm>
        </p:spPr>
        <p:txBody>
          <a:bodyPr>
            <a:normAutofit/>
          </a:bodyPr>
          <a:lstStyle/>
          <a:p>
            <a:r>
              <a:rPr lang="en-US" sz="6600" dirty="0" smtClean="0">
                <a:solidFill>
                  <a:schemeClr val="tx1">
                    <a:lumMod val="95000"/>
                  </a:schemeClr>
                </a:solidFill>
                <a:latin typeface="Algerian" panose="04020705040A02060702" pitchFamily="82" charset="0"/>
                <a:cs typeface="Times New Roman" panose="02020603050405020304" pitchFamily="18" charset="0"/>
              </a:rPr>
              <a:t>Travel Expenses Tracker </a:t>
            </a:r>
            <a:endParaRPr lang="en-IN" sz="6600" dirty="0">
              <a:solidFill>
                <a:schemeClr val="tx1">
                  <a:lumMod val="95000"/>
                </a:schemeClr>
              </a:solidFill>
              <a:latin typeface="Algerian" panose="04020705040A02060702" pitchFamily="82" charset="0"/>
              <a:cs typeface="Times New Roman" panose="02020603050405020304" pitchFamily="18" charset="0"/>
            </a:endParaRPr>
          </a:p>
        </p:txBody>
      </p:sp>
      <p:sp>
        <p:nvSpPr>
          <p:cNvPr id="3" name="Subtitle 2"/>
          <p:cNvSpPr>
            <a:spLocks noGrp="1"/>
          </p:cNvSpPr>
          <p:nvPr>
            <p:ph type="subTitle" idx="1"/>
          </p:nvPr>
        </p:nvSpPr>
        <p:spPr>
          <a:xfrm>
            <a:off x="7588317" y="5495792"/>
            <a:ext cx="4603683" cy="1125070"/>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PROJECT BY</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Pratik </a:t>
            </a:r>
            <a:r>
              <a:rPr lang="en-US" dirty="0">
                <a:latin typeface="Times New Roman" panose="02020603050405020304" pitchFamily="18" charset="0"/>
                <a:cs typeface="Times New Roman" panose="02020603050405020304" pitchFamily="18" charset="0"/>
              </a:rPr>
              <a:t>P. </a:t>
            </a:r>
            <a:r>
              <a:rPr lang="en-US" dirty="0" smtClean="0">
                <a:latin typeface="Times New Roman" panose="02020603050405020304" pitchFamily="18" charset="0"/>
                <a:cs typeface="Times New Roman" panose="02020603050405020304" pitchFamily="18" charset="0"/>
              </a:rPr>
              <a:t>Kapdi (233731013)</a:t>
            </a:r>
            <a:r>
              <a:rPr lang="en-IN" dirty="0" smtClean="0">
                <a:latin typeface="Times New Roman" panose="02020603050405020304" pitchFamily="18" charset="0"/>
                <a:cs typeface="Times New Roman" panose="02020603050405020304" pitchFamily="18" charset="0"/>
              </a:rPr>
              <a:t> </a:t>
            </a:r>
          </a:p>
          <a:p>
            <a:r>
              <a:rPr lang="en-IN"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Swagat</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 </a:t>
            </a:r>
            <a:r>
              <a:rPr lang="en-IN" dirty="0" smtClean="0">
                <a:latin typeface="Times New Roman" panose="02020603050405020304" pitchFamily="18" charset="0"/>
                <a:cs typeface="Times New Roman" panose="02020603050405020304" pitchFamily="18" charset="0"/>
              </a:rPr>
              <a:t>Doke</a:t>
            </a:r>
            <a:r>
              <a:rPr lang="en-IN"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(233731007)</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5636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8000" y="336176"/>
            <a:ext cx="11453999" cy="1264023"/>
          </a:xfrm>
        </p:spPr>
        <p:txBody>
          <a:bodyPr/>
          <a:lstStyle/>
          <a:p>
            <a:r>
              <a:rPr lang="en-US" sz="4600" b="1" dirty="0" smtClean="0">
                <a:solidFill>
                  <a:schemeClr val="tx1">
                    <a:lumMod val="95000"/>
                  </a:schemeClr>
                </a:solidFill>
                <a:latin typeface="Times New Roman" panose="02020603050405020304" pitchFamily="18" charset="0"/>
                <a:cs typeface="Times New Roman" panose="02020603050405020304" pitchFamily="18" charset="0"/>
              </a:rPr>
              <a:t>Introduction</a:t>
            </a:r>
            <a:r>
              <a:rPr lang="en-US" sz="4550" b="1" dirty="0" smtClean="0"/>
              <a:t> </a:t>
            </a:r>
            <a:endParaRPr lang="en-IN" sz="4550" b="1" dirty="0"/>
          </a:p>
        </p:txBody>
      </p:sp>
      <p:sp>
        <p:nvSpPr>
          <p:cNvPr id="3" name="Content Placeholder 2"/>
          <p:cNvSpPr>
            <a:spLocks noGrp="1"/>
          </p:cNvSpPr>
          <p:nvPr>
            <p:ph idx="1"/>
          </p:nvPr>
        </p:nvSpPr>
        <p:spPr>
          <a:xfrm>
            <a:off x="430306" y="1600199"/>
            <a:ext cx="10905564" cy="5661210"/>
          </a:xfrm>
        </p:spPr>
        <p:txBody>
          <a:bodyPr>
            <a:noAutofit/>
          </a:bodyPr>
          <a:lstStyle/>
          <a:p>
            <a:pPr>
              <a:buClr>
                <a:schemeClr val="bg2">
                  <a:lumMod val="60000"/>
                  <a:lumOff val="40000"/>
                </a:schemeClr>
              </a:buClr>
              <a:buSzPct val="101000"/>
              <a:buFont typeface="Wingdings" panose="05000000000000000000" pitchFamily="2" charset="2"/>
              <a:buChar char="Ø"/>
            </a:pPr>
            <a:r>
              <a:rPr lang="en-US" b="1" dirty="0" smtClean="0">
                <a:solidFill>
                  <a:schemeClr val="tx1">
                    <a:lumMod val="95000"/>
                  </a:schemeClr>
                </a:solidFill>
                <a:effectLst/>
                <a:latin typeface="Times New Roman" panose="02020603050405020304" pitchFamily="18" charset="0"/>
                <a:cs typeface="Times New Roman" panose="02020603050405020304" pitchFamily="18" charset="0"/>
              </a:rPr>
              <a:t>Project Objective</a:t>
            </a:r>
            <a:r>
              <a:rPr lang="en-US" dirty="0" smtClean="0">
                <a:solidFill>
                  <a:schemeClr val="tx1">
                    <a:lumMod val="95000"/>
                  </a:schemeClr>
                </a:solidFill>
                <a:effectLst/>
                <a:latin typeface="Times New Roman" panose="02020603050405020304" pitchFamily="18" charset="0"/>
                <a:cs typeface="Times New Roman" panose="02020603050405020304" pitchFamily="18" charset="0"/>
              </a:rPr>
              <a:t>:- Develop a software tool for tracking travel expenses.</a:t>
            </a:r>
          </a:p>
          <a:p>
            <a:pPr>
              <a:buClr>
                <a:schemeClr val="bg2">
                  <a:lumMod val="60000"/>
                  <a:lumOff val="40000"/>
                </a:schemeClr>
              </a:buClr>
              <a:buSzPct val="101000"/>
              <a:buFont typeface="Wingdings" panose="05000000000000000000" pitchFamily="2" charset="2"/>
              <a:buChar char="Ø"/>
            </a:pPr>
            <a:r>
              <a:rPr lang="en-US" b="1" dirty="0" smtClean="0">
                <a:solidFill>
                  <a:schemeClr val="tx1">
                    <a:lumMod val="95000"/>
                  </a:schemeClr>
                </a:solidFill>
                <a:effectLst/>
                <a:latin typeface="Times New Roman" panose="02020603050405020304" pitchFamily="18" charset="0"/>
                <a:cs typeface="Times New Roman" panose="02020603050405020304" pitchFamily="18" charset="0"/>
              </a:rPr>
              <a:t>User Base</a:t>
            </a:r>
            <a:r>
              <a:rPr lang="en-US" dirty="0" smtClean="0">
                <a:solidFill>
                  <a:schemeClr val="tx1">
                    <a:lumMod val="95000"/>
                  </a:schemeClr>
                </a:solidFill>
                <a:effectLst/>
                <a:latin typeface="Times New Roman" panose="02020603050405020304" pitchFamily="18" charset="0"/>
                <a:cs typeface="Times New Roman" panose="02020603050405020304" pitchFamily="18" charset="0"/>
              </a:rPr>
              <a:t>:- Targeted towards individuals who travel frequently and businesses managing employee travel expenses.</a:t>
            </a:r>
          </a:p>
          <a:p>
            <a:pPr>
              <a:buClr>
                <a:schemeClr val="bg2">
                  <a:lumMod val="60000"/>
                  <a:lumOff val="40000"/>
                </a:schemeClr>
              </a:buClr>
              <a:buSzPct val="101000"/>
              <a:buFont typeface="Wingdings" panose="05000000000000000000" pitchFamily="2" charset="2"/>
              <a:buChar char="Ø"/>
            </a:pPr>
            <a:r>
              <a:rPr lang="en-US" b="1" dirty="0" smtClean="0">
                <a:solidFill>
                  <a:schemeClr val="tx1">
                    <a:lumMod val="95000"/>
                  </a:schemeClr>
                </a:solidFill>
                <a:effectLst/>
                <a:latin typeface="Times New Roman" panose="02020603050405020304" pitchFamily="18" charset="0"/>
                <a:cs typeface="Times New Roman" panose="02020603050405020304" pitchFamily="18" charset="0"/>
              </a:rPr>
              <a:t>Tracker Complexity</a:t>
            </a:r>
            <a:r>
              <a:rPr lang="en-US" dirty="0" smtClean="0">
                <a:solidFill>
                  <a:schemeClr val="tx1">
                    <a:lumMod val="95000"/>
                  </a:schemeClr>
                </a:solidFill>
                <a:effectLst/>
                <a:latin typeface="Times New Roman" panose="02020603050405020304" pitchFamily="18" charset="0"/>
                <a:cs typeface="Times New Roman" panose="02020603050405020304" pitchFamily="18" charset="0"/>
              </a:rPr>
              <a:t>:- Can be simple or complex based on user needs.</a:t>
            </a:r>
          </a:p>
          <a:p>
            <a:pPr>
              <a:buClr>
                <a:schemeClr val="bg2">
                  <a:lumMod val="60000"/>
                  <a:lumOff val="40000"/>
                </a:schemeClr>
              </a:buClr>
              <a:buSzPct val="101000"/>
              <a:buFont typeface="Wingdings" panose="05000000000000000000" pitchFamily="2" charset="2"/>
              <a:buChar char="Ø"/>
            </a:pPr>
            <a:r>
              <a:rPr lang="en-US" b="1" dirty="0" smtClean="0">
                <a:solidFill>
                  <a:schemeClr val="tx1">
                    <a:lumMod val="95000"/>
                  </a:schemeClr>
                </a:solidFill>
                <a:effectLst/>
                <a:latin typeface="Times New Roman" panose="02020603050405020304" pitchFamily="18" charset="0"/>
                <a:cs typeface="Times New Roman" panose="02020603050405020304" pitchFamily="18" charset="0"/>
              </a:rPr>
              <a:t>Basic Features</a:t>
            </a:r>
            <a:r>
              <a:rPr lang="en-US" dirty="0" smtClean="0">
                <a:solidFill>
                  <a:schemeClr val="tx1">
                    <a:lumMod val="95000"/>
                  </a:schemeClr>
                </a:solidFill>
                <a:effectLst/>
                <a:latin typeface="Times New Roman" panose="02020603050405020304" pitchFamily="18" charset="0"/>
                <a:cs typeface="Times New Roman" panose="02020603050405020304" pitchFamily="18" charset="0"/>
              </a:rPr>
              <a:t>:- Typically records date, amount, and expense category.</a:t>
            </a:r>
          </a:p>
          <a:p>
            <a:pPr>
              <a:buClr>
                <a:schemeClr val="bg2">
                  <a:lumMod val="60000"/>
                  <a:lumOff val="40000"/>
                </a:schemeClr>
              </a:buClr>
              <a:buSzPct val="101000"/>
              <a:buFont typeface="Wingdings" panose="05000000000000000000" pitchFamily="2" charset="2"/>
              <a:buChar char="Ø"/>
            </a:pPr>
            <a:r>
              <a:rPr lang="en-US" b="1" dirty="0" smtClean="0">
                <a:solidFill>
                  <a:schemeClr val="tx1">
                    <a:lumMod val="95000"/>
                  </a:schemeClr>
                </a:solidFill>
                <a:effectLst/>
                <a:latin typeface="Times New Roman" panose="02020603050405020304" pitchFamily="18" charset="0"/>
                <a:cs typeface="Times New Roman" panose="02020603050405020304" pitchFamily="18" charset="0"/>
              </a:rPr>
              <a:t>Reporting Functionality-</a:t>
            </a:r>
            <a:r>
              <a:rPr lang="en-US" dirty="0" smtClean="0">
                <a:solidFill>
                  <a:schemeClr val="tx1">
                    <a:lumMod val="95000"/>
                  </a:schemeClr>
                </a:solidFill>
                <a:effectLst/>
                <a:latin typeface="Times New Roman" panose="02020603050405020304" pitchFamily="18" charset="0"/>
                <a:cs typeface="Times New Roman" panose="02020603050405020304" pitchFamily="18" charset="0"/>
              </a:rPr>
              <a:t>: Allows users to generate reports for understanding spending habits and identifying potential savings.</a:t>
            </a:r>
          </a:p>
          <a:p>
            <a:pPr>
              <a:buClr>
                <a:schemeClr val="bg2">
                  <a:lumMod val="60000"/>
                  <a:lumOff val="40000"/>
                </a:schemeClr>
              </a:buClr>
              <a:buSzPct val="101000"/>
              <a:buFont typeface="Wingdings" panose="05000000000000000000" pitchFamily="2" charset="2"/>
              <a:buChar char="Ø"/>
            </a:pPr>
            <a:r>
              <a:rPr lang="en-US" b="1" dirty="0" smtClean="0">
                <a:solidFill>
                  <a:schemeClr val="tx1">
                    <a:lumMod val="95000"/>
                  </a:schemeClr>
                </a:solidFill>
                <a:effectLst/>
                <a:latin typeface="Times New Roman" panose="02020603050405020304" pitchFamily="18" charset="0"/>
                <a:cs typeface="Times New Roman" panose="02020603050405020304" pitchFamily="18" charset="0"/>
              </a:rPr>
              <a:t>Decision Support</a:t>
            </a:r>
            <a:r>
              <a:rPr lang="en-US" dirty="0" smtClean="0">
                <a:solidFill>
                  <a:schemeClr val="tx1">
                    <a:lumMod val="95000"/>
                  </a:schemeClr>
                </a:solidFill>
                <a:effectLst/>
                <a:latin typeface="Times New Roman" panose="02020603050405020304" pitchFamily="18" charset="0"/>
                <a:cs typeface="Times New Roman" panose="02020603050405020304" pitchFamily="18" charset="0"/>
              </a:rPr>
              <a:t>:- Empowers users to make informed decisions about future travel plans based on expense reports.</a:t>
            </a:r>
          </a:p>
          <a:p>
            <a:pPr>
              <a:buClr>
                <a:schemeClr val="bg2">
                  <a:lumMod val="60000"/>
                  <a:lumOff val="40000"/>
                </a:schemeClr>
              </a:buClr>
              <a:buSzPct val="101000"/>
              <a:buFont typeface="Wingdings" panose="05000000000000000000" pitchFamily="2" charset="2"/>
              <a:buChar char="Ø"/>
            </a:pPr>
            <a:r>
              <a:rPr lang="en-US" b="1" dirty="0" smtClean="0">
                <a:solidFill>
                  <a:schemeClr val="tx1">
                    <a:lumMod val="95000"/>
                  </a:schemeClr>
                </a:solidFill>
                <a:effectLst/>
                <a:latin typeface="Times New Roman" panose="02020603050405020304" pitchFamily="18" charset="0"/>
                <a:cs typeface="Times New Roman" panose="02020603050405020304" pitchFamily="18" charset="0"/>
              </a:rPr>
              <a:t>Compliance Improvement</a:t>
            </a:r>
            <a:r>
              <a:rPr lang="en-US" dirty="0" smtClean="0">
                <a:solidFill>
                  <a:schemeClr val="tx1">
                    <a:lumMod val="95000"/>
                  </a:schemeClr>
                </a:solidFill>
                <a:effectLst/>
                <a:latin typeface="Times New Roman" panose="02020603050405020304" pitchFamily="18" charset="0"/>
                <a:cs typeface="Times New Roman" panose="02020603050405020304" pitchFamily="18" charset="0"/>
              </a:rPr>
              <a:t>:- Aids businesses in enforcing travel policies by facilitating easy expense submission, approval, and tracking.</a:t>
            </a:r>
          </a:p>
          <a:p>
            <a:pPr>
              <a:buClr>
                <a:schemeClr val="bg2">
                  <a:lumMod val="60000"/>
                  <a:lumOff val="40000"/>
                </a:schemeClr>
              </a:buClr>
              <a:buSzPct val="101000"/>
              <a:buFont typeface="Wingdings" panose="05000000000000000000" pitchFamily="2" charset="2"/>
              <a:buChar char="Ø"/>
            </a:pPr>
            <a:r>
              <a:rPr lang="en-US" b="1" dirty="0" smtClean="0">
                <a:solidFill>
                  <a:schemeClr val="tx1">
                    <a:lumMod val="95000"/>
                  </a:schemeClr>
                </a:solidFill>
                <a:effectLst/>
                <a:latin typeface="Times New Roman" panose="02020603050405020304" pitchFamily="18" charset="0"/>
                <a:cs typeface="Times New Roman" panose="02020603050405020304" pitchFamily="18" charset="0"/>
              </a:rPr>
              <a:t>Versatility</a:t>
            </a:r>
            <a:r>
              <a:rPr lang="en-US" dirty="0" smtClean="0">
                <a:solidFill>
                  <a:schemeClr val="tx1">
                    <a:lumMod val="95000"/>
                  </a:schemeClr>
                </a:solidFill>
                <a:effectLst/>
                <a:latin typeface="Times New Roman" panose="02020603050405020304" pitchFamily="18" charset="0"/>
                <a:cs typeface="Times New Roman" panose="02020603050405020304" pitchFamily="18" charset="0"/>
              </a:rPr>
              <a:t>:- Valuable tool for both individuals and businesses, providing insights into spending habits and promoting financial efficiency.</a:t>
            </a:r>
            <a:endParaRPr lang="en-US" dirty="0">
              <a:solidFill>
                <a:schemeClr val="tx1">
                  <a:lumMod val="95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5739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0" y="251012"/>
            <a:ext cx="11545889" cy="1400530"/>
          </a:xfrm>
        </p:spPr>
        <p:txBody>
          <a:bodyPr/>
          <a:lstStyle/>
          <a:p>
            <a:r>
              <a:rPr lang="en-US" sz="4550" b="1" dirty="0" smtClean="0">
                <a:solidFill>
                  <a:schemeClr val="tx1">
                    <a:lumMod val="95000"/>
                  </a:schemeClr>
                </a:solidFill>
                <a:latin typeface="Times New Roman" panose="02020603050405020304" pitchFamily="18" charset="0"/>
                <a:cs typeface="Times New Roman" panose="02020603050405020304" pitchFamily="18" charset="0"/>
              </a:rPr>
              <a:t>Features Of A Travel Expenses Tracker</a:t>
            </a:r>
            <a:endParaRPr lang="en-IN" sz="4550" b="1" dirty="0">
              <a:solidFill>
                <a:schemeClr val="tx1">
                  <a:lumMod val="9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6110" y="1277470"/>
            <a:ext cx="11545889" cy="5190564"/>
          </a:xfrm>
        </p:spPr>
        <p:txBody>
          <a:bodyPr>
            <a:noAutofit/>
          </a:bodyPr>
          <a:lstStyle/>
          <a:p>
            <a:r>
              <a:rPr lang="en-US" b="1" dirty="0">
                <a:solidFill>
                  <a:schemeClr val="tx1">
                    <a:lumMod val="95000"/>
                  </a:schemeClr>
                </a:solidFill>
                <a:latin typeface="Times New Roman" panose="02020603050405020304" pitchFamily="18" charset="0"/>
                <a:cs typeface="Times New Roman" panose="02020603050405020304" pitchFamily="18" charset="0"/>
              </a:rPr>
              <a:t>Add Expenses:</a:t>
            </a:r>
            <a:endParaRPr lang="en-US" dirty="0">
              <a:solidFill>
                <a:schemeClr val="tx1">
                  <a:lumMod val="95000"/>
                </a:schemeClr>
              </a:solidFill>
              <a:latin typeface="Times New Roman" panose="02020603050405020304" pitchFamily="18" charset="0"/>
              <a:cs typeface="Times New Roman" panose="02020603050405020304" pitchFamily="18" charset="0"/>
            </a:endParaRPr>
          </a:p>
          <a:p>
            <a:pPr lvl="1">
              <a:buSzPct val="82000"/>
              <a:buFont typeface="Wingdings" panose="05000000000000000000" pitchFamily="2" charset="2"/>
              <a:buChar char="Ø"/>
            </a:pPr>
            <a:r>
              <a:rPr lang="en-US" dirty="0">
                <a:solidFill>
                  <a:schemeClr val="tx1">
                    <a:lumMod val="95000"/>
                  </a:schemeClr>
                </a:solidFill>
                <a:latin typeface="Times New Roman" panose="02020603050405020304" pitchFamily="18" charset="0"/>
                <a:cs typeface="Times New Roman" panose="02020603050405020304" pitchFamily="18" charset="0"/>
              </a:rPr>
              <a:t>Record date, amount, and category of each </a:t>
            </a:r>
            <a:r>
              <a:rPr lang="en-US" dirty="0" smtClean="0">
                <a:solidFill>
                  <a:schemeClr val="tx1">
                    <a:lumMod val="95000"/>
                  </a:schemeClr>
                </a:solidFill>
                <a:latin typeface="Times New Roman" panose="02020603050405020304" pitchFamily="18" charset="0"/>
                <a:cs typeface="Times New Roman" panose="02020603050405020304" pitchFamily="18" charset="0"/>
              </a:rPr>
              <a:t>expense. Specify </a:t>
            </a:r>
            <a:r>
              <a:rPr lang="en-US" dirty="0">
                <a:solidFill>
                  <a:schemeClr val="tx1">
                    <a:lumMod val="95000"/>
                  </a:schemeClr>
                </a:solidFill>
                <a:latin typeface="Times New Roman" panose="02020603050405020304" pitchFamily="18" charset="0"/>
                <a:cs typeface="Times New Roman" panose="02020603050405020304" pitchFamily="18" charset="0"/>
              </a:rPr>
              <a:t>purpose, vendor, and receipt details for comprehensive </a:t>
            </a:r>
            <a:r>
              <a:rPr lang="en-US" dirty="0" smtClean="0">
                <a:solidFill>
                  <a:schemeClr val="tx1">
                    <a:lumMod val="95000"/>
                  </a:schemeClr>
                </a:solidFill>
                <a:latin typeface="Times New Roman" panose="02020603050405020304" pitchFamily="18" charset="0"/>
                <a:cs typeface="Times New Roman" panose="02020603050405020304" pitchFamily="18" charset="0"/>
              </a:rPr>
              <a:t>tracking. Differentiate </a:t>
            </a:r>
            <a:r>
              <a:rPr lang="en-US" dirty="0">
                <a:solidFill>
                  <a:schemeClr val="tx1">
                    <a:lumMod val="95000"/>
                  </a:schemeClr>
                </a:solidFill>
                <a:latin typeface="Times New Roman" panose="02020603050405020304" pitchFamily="18" charset="0"/>
                <a:cs typeface="Times New Roman" panose="02020603050405020304" pitchFamily="18" charset="0"/>
              </a:rPr>
              <a:t>between business, family, and group expenses.</a:t>
            </a:r>
          </a:p>
          <a:p>
            <a:r>
              <a:rPr lang="en-US" b="1" dirty="0">
                <a:solidFill>
                  <a:schemeClr val="tx1">
                    <a:lumMod val="95000"/>
                  </a:schemeClr>
                </a:solidFill>
                <a:latin typeface="Times New Roman" panose="02020603050405020304" pitchFamily="18" charset="0"/>
                <a:cs typeface="Times New Roman" panose="02020603050405020304" pitchFamily="18" charset="0"/>
              </a:rPr>
              <a:t>Add Trips:</a:t>
            </a:r>
            <a:endParaRPr lang="en-US" dirty="0">
              <a:solidFill>
                <a:schemeClr val="tx1">
                  <a:lumMod val="95000"/>
                </a:schemeClr>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a:solidFill>
                  <a:schemeClr val="tx1">
                    <a:lumMod val="95000"/>
                  </a:schemeClr>
                </a:solidFill>
                <a:latin typeface="Times New Roman" panose="02020603050405020304" pitchFamily="18" charset="0"/>
                <a:cs typeface="Times New Roman" panose="02020603050405020304" pitchFamily="18" charset="0"/>
              </a:rPr>
              <a:t>Input trip details, including destination and </a:t>
            </a:r>
            <a:r>
              <a:rPr lang="en-US" dirty="0" smtClean="0">
                <a:solidFill>
                  <a:schemeClr val="tx1">
                    <a:lumMod val="95000"/>
                  </a:schemeClr>
                </a:solidFill>
                <a:latin typeface="Times New Roman" panose="02020603050405020304" pitchFamily="18" charset="0"/>
                <a:cs typeface="Times New Roman" panose="02020603050405020304" pitchFamily="18" charset="0"/>
              </a:rPr>
              <a:t>duration. Categorize </a:t>
            </a:r>
            <a:r>
              <a:rPr lang="en-US" dirty="0">
                <a:solidFill>
                  <a:schemeClr val="tx1">
                    <a:lumMod val="95000"/>
                  </a:schemeClr>
                </a:solidFill>
                <a:latin typeface="Times New Roman" panose="02020603050405020304" pitchFamily="18" charset="0"/>
                <a:cs typeface="Times New Roman" panose="02020603050405020304" pitchFamily="18" charset="0"/>
              </a:rPr>
              <a:t>trips based on business, family, or group </a:t>
            </a:r>
            <a:r>
              <a:rPr lang="en-US" dirty="0" smtClean="0">
                <a:solidFill>
                  <a:schemeClr val="tx1">
                    <a:lumMod val="95000"/>
                  </a:schemeClr>
                </a:solidFill>
                <a:latin typeface="Times New Roman" panose="02020603050405020304" pitchFamily="18" charset="0"/>
                <a:cs typeface="Times New Roman" panose="02020603050405020304" pitchFamily="18" charset="0"/>
              </a:rPr>
              <a:t>travel. Link </a:t>
            </a:r>
            <a:r>
              <a:rPr lang="en-US" dirty="0">
                <a:solidFill>
                  <a:schemeClr val="tx1">
                    <a:lumMod val="95000"/>
                  </a:schemeClr>
                </a:solidFill>
                <a:latin typeface="Times New Roman" panose="02020603050405020304" pitchFamily="18" charset="0"/>
                <a:cs typeface="Times New Roman" panose="02020603050405020304" pitchFamily="18" charset="0"/>
              </a:rPr>
              <a:t>expenses to specific trips for organized tracking.</a:t>
            </a:r>
          </a:p>
          <a:p>
            <a:r>
              <a:rPr lang="en-US" b="1" dirty="0">
                <a:solidFill>
                  <a:schemeClr val="tx1">
                    <a:lumMod val="95000"/>
                  </a:schemeClr>
                </a:solidFill>
                <a:latin typeface="Times New Roman" panose="02020603050405020304" pitchFamily="18" charset="0"/>
                <a:cs typeface="Times New Roman" panose="02020603050405020304" pitchFamily="18" charset="0"/>
              </a:rPr>
              <a:t>Generate Reports:</a:t>
            </a:r>
            <a:endParaRPr lang="en-US" dirty="0">
              <a:solidFill>
                <a:schemeClr val="tx1">
                  <a:lumMod val="95000"/>
                </a:schemeClr>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a:solidFill>
                  <a:schemeClr val="tx1">
                    <a:lumMod val="95000"/>
                  </a:schemeClr>
                </a:solidFill>
                <a:latin typeface="Times New Roman" panose="02020603050405020304" pitchFamily="18" charset="0"/>
                <a:cs typeface="Times New Roman" panose="02020603050405020304" pitchFamily="18" charset="0"/>
              </a:rPr>
              <a:t>Analyze spending habits for each trip type (business, family, group</a:t>
            </a:r>
            <a:r>
              <a:rPr lang="en-US" dirty="0" smtClean="0">
                <a:solidFill>
                  <a:schemeClr val="tx1">
                    <a:lumMod val="95000"/>
                  </a:schemeClr>
                </a:solidFill>
                <a:latin typeface="Times New Roman" panose="02020603050405020304" pitchFamily="18" charset="0"/>
                <a:cs typeface="Times New Roman" panose="02020603050405020304" pitchFamily="18" charset="0"/>
              </a:rPr>
              <a:t>)..Filter </a:t>
            </a:r>
            <a:r>
              <a:rPr lang="en-US" dirty="0">
                <a:solidFill>
                  <a:schemeClr val="tx1">
                    <a:lumMod val="95000"/>
                  </a:schemeClr>
                </a:solidFill>
                <a:latin typeface="Times New Roman" panose="02020603050405020304" pitchFamily="18" charset="0"/>
                <a:cs typeface="Times New Roman" panose="02020603050405020304" pitchFamily="18" charset="0"/>
              </a:rPr>
              <a:t>reports by date range, category, or specific </a:t>
            </a:r>
            <a:r>
              <a:rPr lang="en-US" dirty="0" smtClean="0">
                <a:solidFill>
                  <a:schemeClr val="tx1">
                    <a:lumMod val="95000"/>
                  </a:schemeClr>
                </a:solidFill>
                <a:latin typeface="Times New Roman" panose="02020603050405020304" pitchFamily="18" charset="0"/>
                <a:cs typeface="Times New Roman" panose="02020603050405020304" pitchFamily="18" charset="0"/>
              </a:rPr>
              <a:t>trips. Visualize </a:t>
            </a:r>
            <a:r>
              <a:rPr lang="en-US" dirty="0">
                <a:solidFill>
                  <a:schemeClr val="tx1">
                    <a:lumMod val="95000"/>
                  </a:schemeClr>
                </a:solidFill>
                <a:latin typeface="Times New Roman" panose="02020603050405020304" pitchFamily="18" charset="0"/>
                <a:cs typeface="Times New Roman" panose="02020603050405020304" pitchFamily="18" charset="0"/>
              </a:rPr>
              <a:t>data for a quick overview of expenses.</a:t>
            </a:r>
          </a:p>
          <a:p>
            <a:r>
              <a:rPr lang="en-US" b="1" dirty="0">
                <a:solidFill>
                  <a:schemeClr val="tx1">
                    <a:lumMod val="95000"/>
                  </a:schemeClr>
                </a:solidFill>
                <a:latin typeface="Times New Roman" panose="02020603050405020304" pitchFamily="18" charset="0"/>
                <a:cs typeface="Times New Roman" panose="02020603050405020304" pitchFamily="18" charset="0"/>
              </a:rPr>
              <a:t>Print Reports:</a:t>
            </a:r>
            <a:endParaRPr lang="en-US" dirty="0">
              <a:solidFill>
                <a:schemeClr val="tx1">
                  <a:lumMod val="95000"/>
                </a:schemeClr>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a:solidFill>
                  <a:schemeClr val="tx1">
                    <a:lumMod val="95000"/>
                  </a:schemeClr>
                </a:solidFill>
                <a:latin typeface="Times New Roman" panose="02020603050405020304" pitchFamily="18" charset="0"/>
                <a:cs typeface="Times New Roman" panose="02020603050405020304" pitchFamily="18" charset="0"/>
              </a:rPr>
              <a:t>Easily print detailed reports for </a:t>
            </a:r>
            <a:r>
              <a:rPr lang="en-US" dirty="0" smtClean="0">
                <a:solidFill>
                  <a:schemeClr val="tx1">
                    <a:lumMod val="95000"/>
                  </a:schemeClr>
                </a:solidFill>
                <a:latin typeface="Times New Roman" panose="02020603050405020304" pitchFamily="18" charset="0"/>
                <a:cs typeface="Times New Roman" panose="02020603050405020304" pitchFamily="18" charset="0"/>
              </a:rPr>
              <a:t>record-keeping. Access </a:t>
            </a:r>
            <a:r>
              <a:rPr lang="en-US" dirty="0">
                <a:solidFill>
                  <a:schemeClr val="tx1">
                    <a:lumMod val="95000"/>
                  </a:schemeClr>
                </a:solidFill>
                <a:latin typeface="Times New Roman" panose="02020603050405020304" pitchFamily="18" charset="0"/>
                <a:cs typeface="Times New Roman" panose="02020603050405020304" pitchFamily="18" charset="0"/>
              </a:rPr>
              <a:t>hard copies for expense reimbursement or tax </a:t>
            </a:r>
            <a:r>
              <a:rPr lang="en-US" dirty="0" smtClean="0">
                <a:solidFill>
                  <a:schemeClr val="tx1">
                    <a:lumMod val="95000"/>
                  </a:schemeClr>
                </a:solidFill>
                <a:latin typeface="Times New Roman" panose="02020603050405020304" pitchFamily="18" charset="0"/>
                <a:cs typeface="Times New Roman" panose="02020603050405020304" pitchFamily="18" charset="0"/>
              </a:rPr>
              <a:t>purposes. Provide </a:t>
            </a:r>
            <a:r>
              <a:rPr lang="en-US" dirty="0">
                <a:solidFill>
                  <a:schemeClr val="tx1">
                    <a:lumMod val="95000"/>
                  </a:schemeClr>
                </a:solidFill>
                <a:latin typeface="Times New Roman" panose="02020603050405020304" pitchFamily="18" charset="0"/>
                <a:cs typeface="Times New Roman" panose="02020603050405020304" pitchFamily="18" charset="0"/>
              </a:rPr>
              <a:t>tangible documentation for business or personal use.</a:t>
            </a:r>
          </a:p>
          <a:p>
            <a:r>
              <a:rPr lang="en-US" b="1" dirty="0">
                <a:solidFill>
                  <a:schemeClr val="tx1">
                    <a:lumMod val="95000"/>
                  </a:schemeClr>
                </a:solidFill>
                <a:latin typeface="Times New Roman" panose="02020603050405020304" pitchFamily="18" charset="0"/>
                <a:cs typeface="Times New Roman" panose="02020603050405020304" pitchFamily="18" charset="0"/>
              </a:rPr>
              <a:t>Traveling Tips:</a:t>
            </a:r>
            <a:endParaRPr lang="en-US" dirty="0">
              <a:solidFill>
                <a:schemeClr val="tx1">
                  <a:lumMod val="95000"/>
                </a:schemeClr>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a:solidFill>
                  <a:schemeClr val="tx1">
                    <a:lumMod val="95000"/>
                  </a:schemeClr>
                </a:solidFill>
                <a:latin typeface="Times New Roman" panose="02020603050405020304" pitchFamily="18" charset="0"/>
                <a:cs typeface="Times New Roman" panose="02020603050405020304" pitchFamily="18" charset="0"/>
              </a:rPr>
              <a:t>Access a curated section for valuable traveling </a:t>
            </a:r>
            <a:r>
              <a:rPr lang="en-US" dirty="0" smtClean="0">
                <a:solidFill>
                  <a:schemeClr val="tx1">
                    <a:lumMod val="95000"/>
                  </a:schemeClr>
                </a:solidFill>
                <a:latin typeface="Times New Roman" panose="02020603050405020304" pitchFamily="18" charset="0"/>
                <a:cs typeface="Times New Roman" panose="02020603050405020304" pitchFamily="18" charset="0"/>
              </a:rPr>
              <a:t>tips. Receive </a:t>
            </a:r>
            <a:r>
              <a:rPr lang="en-US" dirty="0">
                <a:solidFill>
                  <a:schemeClr val="tx1">
                    <a:lumMod val="95000"/>
                  </a:schemeClr>
                </a:solidFill>
                <a:latin typeface="Times New Roman" panose="02020603050405020304" pitchFamily="18" charset="0"/>
                <a:cs typeface="Times New Roman" panose="02020603050405020304" pitchFamily="18" charset="0"/>
              </a:rPr>
              <a:t>recommendations based on the purpose of the </a:t>
            </a:r>
            <a:r>
              <a:rPr lang="en-US" dirty="0" smtClean="0">
                <a:solidFill>
                  <a:schemeClr val="tx1">
                    <a:lumMod val="95000"/>
                  </a:schemeClr>
                </a:solidFill>
                <a:latin typeface="Times New Roman" panose="02020603050405020304" pitchFamily="18" charset="0"/>
                <a:cs typeface="Times New Roman" panose="02020603050405020304" pitchFamily="18" charset="0"/>
              </a:rPr>
              <a:t>trip. Enhance </a:t>
            </a:r>
            <a:r>
              <a:rPr lang="en-US" dirty="0">
                <a:solidFill>
                  <a:schemeClr val="tx1">
                    <a:lumMod val="95000"/>
                  </a:schemeClr>
                </a:solidFill>
                <a:latin typeface="Times New Roman" panose="02020603050405020304" pitchFamily="18" charset="0"/>
                <a:cs typeface="Times New Roman" panose="02020603050405020304" pitchFamily="18" charset="0"/>
              </a:rPr>
              <a:t>user experience with useful insights.</a:t>
            </a:r>
          </a:p>
          <a:p>
            <a:endParaRPr lang="en-IN" dirty="0">
              <a:solidFill>
                <a:schemeClr val="tx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5222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805" y="0"/>
            <a:ext cx="10151877" cy="1214717"/>
          </a:xfrm>
        </p:spPr>
        <p:txBody>
          <a:bodyPr/>
          <a:lstStyle/>
          <a:p>
            <a:r>
              <a:rPr lang="en-US" sz="4600" b="1" dirty="0">
                <a:solidFill>
                  <a:schemeClr val="tx1">
                    <a:lumMod val="95000"/>
                  </a:schemeClr>
                </a:solidFill>
                <a:latin typeface="Times New Roman" panose="02020603050405020304" pitchFamily="18" charset="0"/>
                <a:cs typeface="Times New Roman" panose="02020603050405020304" pitchFamily="18" charset="0"/>
              </a:rPr>
              <a:t>Entity Relationship Diagram</a:t>
            </a:r>
            <a:endParaRPr lang="en-IN" sz="4600" b="1" dirty="0">
              <a:solidFill>
                <a:schemeClr val="tx1">
                  <a:lumMod val="95000"/>
                </a:schemeClr>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202" y="1021976"/>
            <a:ext cx="11916469" cy="5753782"/>
          </a:xfrm>
          <a:prstGeom prst="rect">
            <a:avLst/>
          </a:prstGeom>
        </p:spPr>
      </p:pic>
    </p:spTree>
    <p:extLst>
      <p:ext uri="{BB962C8B-B14F-4D97-AF65-F5344CB8AC3E}">
        <p14:creationId xmlns:p14="http://schemas.microsoft.com/office/powerpoint/2010/main" val="1031606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982" y="477650"/>
            <a:ext cx="10151877" cy="1214717"/>
          </a:xfrm>
        </p:spPr>
        <p:txBody>
          <a:bodyPr/>
          <a:lstStyle/>
          <a:p>
            <a:r>
              <a:rPr lang="en-US" sz="4600" b="1" dirty="0" smtClean="0">
                <a:solidFill>
                  <a:schemeClr val="tx1">
                    <a:lumMod val="95000"/>
                  </a:schemeClr>
                </a:solidFill>
                <a:latin typeface="Times New Roman" panose="02020603050405020304" pitchFamily="18" charset="0"/>
                <a:cs typeface="Times New Roman" panose="02020603050405020304" pitchFamily="18" charset="0"/>
              </a:rPr>
              <a:t>Data Flow </a:t>
            </a:r>
            <a:r>
              <a:rPr lang="en-US" sz="4600" b="1" dirty="0" smtClean="0">
                <a:solidFill>
                  <a:schemeClr val="tx1">
                    <a:lumMod val="95000"/>
                  </a:schemeClr>
                </a:solidFill>
                <a:latin typeface="Times New Roman" panose="02020603050405020304" pitchFamily="18" charset="0"/>
                <a:cs typeface="Times New Roman" panose="02020603050405020304" pitchFamily="18" charset="0"/>
              </a:rPr>
              <a:t>Diagram Level 0</a:t>
            </a:r>
            <a:endParaRPr lang="en-IN" sz="4600" b="1" dirty="0">
              <a:solidFill>
                <a:schemeClr val="tx1">
                  <a:lumMod val="95000"/>
                </a:schemeClr>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34472"/>
          <a:stretch/>
        </p:blipFill>
        <p:spPr>
          <a:xfrm>
            <a:off x="175464" y="2433917"/>
            <a:ext cx="11536923" cy="3429000"/>
          </a:xfrm>
          <a:prstGeom prst="rect">
            <a:avLst/>
          </a:prstGeom>
        </p:spPr>
      </p:pic>
    </p:spTree>
    <p:extLst>
      <p:ext uri="{BB962C8B-B14F-4D97-AF65-F5344CB8AC3E}">
        <p14:creationId xmlns:p14="http://schemas.microsoft.com/office/powerpoint/2010/main" val="3651424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935" y="161365"/>
            <a:ext cx="10151877" cy="1214717"/>
          </a:xfrm>
        </p:spPr>
        <p:txBody>
          <a:bodyPr/>
          <a:lstStyle/>
          <a:p>
            <a:r>
              <a:rPr lang="en-US" sz="4600" b="1" dirty="0" smtClean="0">
                <a:solidFill>
                  <a:schemeClr val="tx1">
                    <a:lumMod val="95000"/>
                  </a:schemeClr>
                </a:solidFill>
                <a:latin typeface="Times New Roman" panose="02020603050405020304" pitchFamily="18" charset="0"/>
                <a:cs typeface="Times New Roman" panose="02020603050405020304" pitchFamily="18" charset="0"/>
              </a:rPr>
              <a:t>Data Flow Diagram Level 1</a:t>
            </a:r>
            <a:endParaRPr lang="en-IN" sz="4600" b="1" dirty="0">
              <a:solidFill>
                <a:schemeClr val="tx1">
                  <a:lumMod val="95000"/>
                </a:schemeClr>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6821"/>
          <a:stretch/>
        </p:blipFill>
        <p:spPr>
          <a:xfrm>
            <a:off x="215806" y="1376082"/>
            <a:ext cx="11577265" cy="5226424"/>
          </a:xfrm>
          <a:prstGeom prst="rect">
            <a:avLst/>
          </a:prstGeom>
        </p:spPr>
      </p:pic>
    </p:spTree>
    <p:extLst>
      <p:ext uri="{BB962C8B-B14F-4D97-AF65-F5344CB8AC3E}">
        <p14:creationId xmlns:p14="http://schemas.microsoft.com/office/powerpoint/2010/main" val="3634663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935" y="412377"/>
            <a:ext cx="11227642" cy="1134035"/>
          </a:xfrm>
        </p:spPr>
        <p:txBody>
          <a:bodyPr>
            <a:normAutofit fontScale="90000"/>
          </a:bodyPr>
          <a:lstStyle/>
          <a:p>
            <a:r>
              <a:rPr lang="en-US" sz="4800" b="1" dirty="0" smtClean="0">
                <a:latin typeface="Times New Roman" panose="02020603050405020304" pitchFamily="18" charset="0"/>
                <a:cs typeface="Times New Roman" panose="02020603050405020304" pitchFamily="18" charset="0"/>
              </a:rPr>
              <a:t>How </a:t>
            </a:r>
            <a:r>
              <a:rPr lang="en-US" sz="5100" b="1" dirty="0" smtClean="0">
                <a:latin typeface="Times New Roman" panose="02020603050405020304" pitchFamily="18" charset="0"/>
                <a:cs typeface="Times New Roman" panose="02020603050405020304" pitchFamily="18" charset="0"/>
              </a:rPr>
              <a:t>To</a:t>
            </a:r>
            <a:r>
              <a:rPr lang="en-US" sz="4800" b="1" dirty="0" smtClean="0">
                <a:latin typeface="Times New Roman" panose="02020603050405020304" pitchFamily="18" charset="0"/>
                <a:cs typeface="Times New Roman" panose="02020603050405020304" pitchFamily="18" charset="0"/>
              </a:rPr>
              <a:t> Choose A Travel Expenses Tracker</a:t>
            </a:r>
            <a:endParaRPr lang="en-IN" sz="4800" b="1" dirty="0">
              <a:solidFill>
                <a:schemeClr val="tx1">
                  <a:lumMod val="9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0988" y="1546412"/>
            <a:ext cx="10327341" cy="4948517"/>
          </a:xfrm>
        </p:spPr>
        <p:txBody>
          <a:bodyPr>
            <a:normAutofit/>
          </a:bodyPr>
          <a:lstStyle/>
          <a:p>
            <a:pPr lvl="0"/>
            <a:r>
              <a:rPr lang="en-US" b="1" dirty="0">
                <a:solidFill>
                  <a:schemeClr val="tx1">
                    <a:lumMod val="95000"/>
                  </a:schemeClr>
                </a:solidFill>
                <a:latin typeface="Times New Roman" panose="02020603050405020304" pitchFamily="18" charset="0"/>
                <a:cs typeface="Times New Roman" panose="02020603050405020304" pitchFamily="18" charset="0"/>
              </a:rPr>
              <a:t>Data accuracy:</a:t>
            </a:r>
            <a:r>
              <a:rPr lang="en-US" dirty="0">
                <a:solidFill>
                  <a:schemeClr val="tx1">
                    <a:lumMod val="95000"/>
                  </a:schemeClr>
                </a:solidFill>
                <a:latin typeface="Times New Roman" panose="02020603050405020304" pitchFamily="18" charset="0"/>
                <a:cs typeface="Times New Roman" panose="02020603050405020304" pitchFamily="18" charset="0"/>
              </a:rPr>
              <a:t> It is essential that the system is able to accurately track all travel expenses, in order to provide businesses with a reliable overview of their spending.</a:t>
            </a:r>
            <a:endParaRPr lang="en-IN" dirty="0">
              <a:solidFill>
                <a:schemeClr val="tx1">
                  <a:lumMod val="95000"/>
                </a:schemeClr>
              </a:solidFill>
              <a:latin typeface="Times New Roman" panose="02020603050405020304" pitchFamily="18" charset="0"/>
              <a:cs typeface="Times New Roman" panose="02020603050405020304" pitchFamily="18" charset="0"/>
            </a:endParaRPr>
          </a:p>
          <a:p>
            <a:pPr lvl="0"/>
            <a:r>
              <a:rPr lang="en-US" b="1" dirty="0">
                <a:solidFill>
                  <a:schemeClr val="tx1">
                    <a:lumMod val="95000"/>
                  </a:schemeClr>
                </a:solidFill>
                <a:latin typeface="Times New Roman" panose="02020603050405020304" pitchFamily="18" charset="0"/>
                <a:cs typeface="Times New Roman" panose="02020603050405020304" pitchFamily="18" charset="0"/>
              </a:rPr>
              <a:t>Ease of use:</a:t>
            </a:r>
            <a:r>
              <a:rPr lang="en-US" dirty="0">
                <a:solidFill>
                  <a:schemeClr val="tx1">
                    <a:lumMod val="95000"/>
                  </a:schemeClr>
                </a:solidFill>
                <a:latin typeface="Times New Roman" panose="02020603050405020304" pitchFamily="18" charset="0"/>
                <a:cs typeface="Times New Roman" panose="02020603050405020304" pitchFamily="18" charset="0"/>
              </a:rPr>
              <a:t> The system should be easy to use for both employees and managers, in order to encourage adoption and ensure that all expenses are recorded accurately and on time.</a:t>
            </a:r>
            <a:endParaRPr lang="en-IN" dirty="0">
              <a:solidFill>
                <a:schemeClr val="tx1">
                  <a:lumMod val="95000"/>
                </a:schemeClr>
              </a:solidFill>
              <a:latin typeface="Times New Roman" panose="02020603050405020304" pitchFamily="18" charset="0"/>
              <a:cs typeface="Times New Roman" panose="02020603050405020304" pitchFamily="18" charset="0"/>
            </a:endParaRPr>
          </a:p>
          <a:p>
            <a:pPr lvl="0"/>
            <a:r>
              <a:rPr lang="en-US" b="1" dirty="0">
                <a:solidFill>
                  <a:schemeClr val="tx1">
                    <a:lumMod val="95000"/>
                  </a:schemeClr>
                </a:solidFill>
                <a:latin typeface="Times New Roman" panose="02020603050405020304" pitchFamily="18" charset="0"/>
                <a:cs typeface="Times New Roman" panose="02020603050405020304" pitchFamily="18" charset="0"/>
              </a:rPr>
              <a:t>Flexibility:</a:t>
            </a:r>
            <a:r>
              <a:rPr lang="en-US" dirty="0">
                <a:solidFill>
                  <a:schemeClr val="tx1">
                    <a:lumMod val="95000"/>
                  </a:schemeClr>
                </a:solidFill>
                <a:latin typeface="Times New Roman" panose="02020603050405020304" pitchFamily="18" charset="0"/>
                <a:cs typeface="Times New Roman" panose="02020603050405020304" pitchFamily="18" charset="0"/>
              </a:rPr>
              <a:t> The system should be flexible enough to accommodate different types of travel expenses and business policies.</a:t>
            </a:r>
            <a:endParaRPr lang="en-IN" dirty="0">
              <a:solidFill>
                <a:schemeClr val="tx1">
                  <a:lumMod val="95000"/>
                </a:schemeClr>
              </a:solidFill>
              <a:latin typeface="Times New Roman" panose="02020603050405020304" pitchFamily="18" charset="0"/>
              <a:cs typeface="Times New Roman" panose="02020603050405020304" pitchFamily="18" charset="0"/>
            </a:endParaRPr>
          </a:p>
          <a:p>
            <a:pPr lvl="0"/>
            <a:r>
              <a:rPr lang="en-US" b="1" dirty="0">
                <a:solidFill>
                  <a:schemeClr val="tx1">
                    <a:lumMod val="95000"/>
                  </a:schemeClr>
                </a:solidFill>
                <a:latin typeface="Times New Roman" panose="02020603050405020304" pitchFamily="18" charset="0"/>
                <a:cs typeface="Times New Roman" panose="02020603050405020304" pitchFamily="18" charset="0"/>
              </a:rPr>
              <a:t>Security:</a:t>
            </a:r>
            <a:r>
              <a:rPr lang="en-US" dirty="0">
                <a:solidFill>
                  <a:schemeClr val="tx1">
                    <a:lumMod val="95000"/>
                  </a:schemeClr>
                </a:solidFill>
                <a:latin typeface="Times New Roman" panose="02020603050405020304" pitchFamily="18" charset="0"/>
                <a:cs typeface="Times New Roman" panose="02020603050405020304" pitchFamily="18" charset="0"/>
              </a:rPr>
              <a:t> The system must be secure enough to protect sensitive financial data from unauthorized access.</a:t>
            </a:r>
            <a:endParaRPr lang="en-IN" dirty="0">
              <a:solidFill>
                <a:schemeClr val="tx1">
                  <a:lumMod val="95000"/>
                </a:schemeClr>
              </a:solidFill>
              <a:latin typeface="Times New Roman" panose="02020603050405020304" pitchFamily="18" charset="0"/>
              <a:cs typeface="Times New Roman" panose="02020603050405020304" pitchFamily="18" charset="0"/>
            </a:endParaRPr>
          </a:p>
          <a:p>
            <a:pPr lvl="0"/>
            <a:r>
              <a:rPr lang="en-US" b="1" dirty="0">
                <a:solidFill>
                  <a:schemeClr val="tx1">
                    <a:lumMod val="95000"/>
                  </a:schemeClr>
                </a:solidFill>
                <a:latin typeface="Times New Roman" panose="02020603050405020304" pitchFamily="18" charset="0"/>
                <a:cs typeface="Times New Roman" panose="02020603050405020304" pitchFamily="18" charset="0"/>
              </a:rPr>
              <a:t>Develop a detailed user guide:</a:t>
            </a:r>
            <a:r>
              <a:rPr lang="en-US" dirty="0">
                <a:solidFill>
                  <a:schemeClr val="tx1">
                    <a:lumMod val="95000"/>
                  </a:schemeClr>
                </a:solidFill>
                <a:latin typeface="Times New Roman" panose="02020603050405020304" pitchFamily="18" charset="0"/>
                <a:cs typeface="Times New Roman" panose="02020603050405020304" pitchFamily="18" charset="0"/>
              </a:rPr>
              <a:t> The user guide should provide clear instructions on how to use the system to record and submit travel expenses. It should also include information on how to approve and reimburse expenses.</a:t>
            </a:r>
            <a:endParaRPr lang="en-IN" dirty="0">
              <a:solidFill>
                <a:schemeClr val="tx1">
                  <a:lumMod val="95000"/>
                </a:schemeClr>
              </a:solidFill>
              <a:latin typeface="Times New Roman" panose="02020603050405020304" pitchFamily="18" charset="0"/>
              <a:cs typeface="Times New Roman" panose="02020603050405020304" pitchFamily="18" charset="0"/>
            </a:endParaRPr>
          </a:p>
          <a:p>
            <a:pPr lvl="0"/>
            <a:r>
              <a:rPr lang="en-US" b="1" dirty="0">
                <a:solidFill>
                  <a:schemeClr val="tx1">
                    <a:lumMod val="95000"/>
                  </a:schemeClr>
                </a:solidFill>
                <a:latin typeface="Times New Roman" panose="02020603050405020304" pitchFamily="18" charset="0"/>
                <a:cs typeface="Times New Roman" panose="02020603050405020304" pitchFamily="18" charset="0"/>
              </a:rPr>
              <a:t>Collect feedback from users:</a:t>
            </a:r>
            <a:r>
              <a:rPr lang="en-US" dirty="0">
                <a:solidFill>
                  <a:schemeClr val="tx1">
                    <a:lumMod val="95000"/>
                  </a:schemeClr>
                </a:solidFill>
                <a:latin typeface="Times New Roman" panose="02020603050405020304" pitchFamily="18" charset="0"/>
                <a:cs typeface="Times New Roman" panose="02020603050405020304" pitchFamily="18" charset="0"/>
              </a:rPr>
              <a:t> This feedback can be used to improve the system's usability and functionality.</a:t>
            </a:r>
            <a:endParaRPr lang="en-IN" dirty="0">
              <a:solidFill>
                <a:schemeClr val="tx1">
                  <a:lumMod val="95000"/>
                </a:schemeClr>
              </a:solidFill>
              <a:latin typeface="Times New Roman" panose="02020603050405020304" pitchFamily="18" charset="0"/>
              <a:cs typeface="Times New Roman" panose="02020603050405020304" pitchFamily="18" charset="0"/>
            </a:endParaRPr>
          </a:p>
          <a:p>
            <a:endParaRPr lang="en-IN" dirty="0">
              <a:solidFill>
                <a:schemeClr val="tx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5976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600" b="1" dirty="0">
                <a:latin typeface="Times New Roman" panose="02020603050405020304" pitchFamily="18" charset="0"/>
                <a:cs typeface="Times New Roman" panose="02020603050405020304" pitchFamily="18" charset="0"/>
              </a:rPr>
              <a:t>Conclusion</a:t>
            </a:r>
            <a:endParaRPr lang="en-IN" sz="4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7542" y="1600200"/>
            <a:ext cx="10555940" cy="5042647"/>
          </a:xfrm>
        </p:spPr>
        <p:txBody>
          <a:bodyPr/>
          <a:lstStyle/>
          <a:p>
            <a:r>
              <a:rPr lang="en-US" dirty="0">
                <a:latin typeface="Times New Roman" panose="02020603050405020304" pitchFamily="18" charset="0"/>
                <a:cs typeface="Times New Roman" panose="02020603050405020304" pitchFamily="18" charset="0"/>
              </a:rPr>
              <a:t>A travel expenses tracker streamlines travel expense management, reducing paperwork, improving accuracy, and increasing visibility. By enforcing expense policies and automating calculations, it saves time and money for both employees and employers. With its ease of use, integration capabilities, and affordable pricing, a travel expenses tracker is a valuable tool for any organization.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2427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528048"/>
            <a:ext cx="12192000" cy="3200876"/>
          </a:xfrm>
          <a:prstGeom prst="rect">
            <a:avLst/>
          </a:prstGeom>
          <a:noFill/>
        </p:spPr>
        <p:txBody>
          <a:bodyPr wrap="square" rtlCol="0">
            <a:spAutoFit/>
          </a:bodyPr>
          <a:lstStyle/>
          <a:p>
            <a:pPr algn="ctr"/>
            <a:r>
              <a:rPr lang="en-US" sz="10100" dirty="0" smtClean="0">
                <a:solidFill>
                  <a:schemeClr val="tx1">
                    <a:lumMod val="95000"/>
                  </a:schemeClr>
                </a:solidFill>
                <a:latin typeface="Times New Roman" panose="02020603050405020304" pitchFamily="18" charset="0"/>
                <a:cs typeface="Times New Roman" panose="02020603050405020304" pitchFamily="18" charset="0"/>
              </a:rPr>
              <a:t>Thank</a:t>
            </a:r>
            <a:r>
              <a:rPr lang="en-US" sz="10100" dirty="0" smtClean="0">
                <a:latin typeface="Times New Roman" panose="02020603050405020304" pitchFamily="18" charset="0"/>
                <a:cs typeface="Times New Roman" panose="02020603050405020304" pitchFamily="18" charset="0"/>
              </a:rPr>
              <a:t> </a:t>
            </a:r>
            <a:r>
              <a:rPr lang="en-US" sz="10100" dirty="0" smtClean="0">
                <a:solidFill>
                  <a:schemeClr val="tx1">
                    <a:lumMod val="95000"/>
                  </a:schemeClr>
                </a:solidFill>
                <a:latin typeface="Times New Roman" panose="02020603050405020304" pitchFamily="18" charset="0"/>
                <a:cs typeface="Times New Roman" panose="02020603050405020304" pitchFamily="18" charset="0"/>
              </a:rPr>
              <a:t>You</a:t>
            </a:r>
          </a:p>
          <a:p>
            <a:pPr algn="ctr"/>
            <a:r>
              <a:rPr lang="en-US" sz="2000" dirty="0">
                <a:latin typeface="Times New Roman" panose="02020603050405020304" pitchFamily="18" charset="0"/>
                <a:cs typeface="Times New Roman" panose="02020603050405020304" pitchFamily="18" charset="0"/>
              </a:rPr>
              <a:t>Thank you for your time. I hope this presentation was </a:t>
            </a:r>
            <a:r>
              <a:rPr lang="en-US" sz="2000" dirty="0" smtClean="0">
                <a:latin typeface="Times New Roman" panose="02020603050405020304" pitchFamily="18" charset="0"/>
                <a:cs typeface="Times New Roman" panose="02020603050405020304" pitchFamily="18" charset="0"/>
              </a:rPr>
              <a:t>helpful</a:t>
            </a:r>
            <a:r>
              <a:rPr lang="en-US" dirty="0" smtClean="0">
                <a:latin typeface="Times New Roman" panose="02020603050405020304" pitchFamily="18" charset="0"/>
                <a:cs typeface="Times New Roman" panose="02020603050405020304" pitchFamily="18" charset="0"/>
              </a:rPr>
              <a:t>.</a:t>
            </a:r>
            <a:r>
              <a:rPr lang="en-US" sz="10100" dirty="0" smtClean="0">
                <a:latin typeface="Times New Roman" panose="02020603050405020304" pitchFamily="18" charset="0"/>
                <a:cs typeface="Times New Roman" panose="02020603050405020304" pitchFamily="18" charset="0"/>
              </a:rPr>
              <a:t> </a:t>
            </a:r>
            <a:endParaRPr lang="en-IN" sz="10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09518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123</TotalTime>
  <Words>563</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Algerian</vt:lpstr>
      <vt:lpstr>Arial</vt:lpstr>
      <vt:lpstr>Century Gothic</vt:lpstr>
      <vt:lpstr>Times New Roman</vt:lpstr>
      <vt:lpstr>Wingdings</vt:lpstr>
      <vt:lpstr>Wingdings 3</vt:lpstr>
      <vt:lpstr>Ion</vt:lpstr>
      <vt:lpstr>Travel Expenses Tracker </vt:lpstr>
      <vt:lpstr>Introduction </vt:lpstr>
      <vt:lpstr>Features Of A Travel Expenses Tracker</vt:lpstr>
      <vt:lpstr>Entity Relationship Diagram</vt:lpstr>
      <vt:lpstr>Data Flow Diagram Level 0</vt:lpstr>
      <vt:lpstr>Data Flow Diagram Level 1</vt:lpstr>
      <vt:lpstr>How To Choose A Travel Expenses Tracker</vt:lpstr>
      <vt:lpstr>Conclusion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 Expenses Tracker</dc:title>
  <dc:creator>Lenovo_</dc:creator>
  <cp:lastModifiedBy>Lenovo_</cp:lastModifiedBy>
  <cp:revision>19</cp:revision>
  <dcterms:created xsi:type="dcterms:W3CDTF">2023-11-22T14:12:59Z</dcterms:created>
  <dcterms:modified xsi:type="dcterms:W3CDTF">2023-11-28T15:18:15Z</dcterms:modified>
</cp:coreProperties>
</file>